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8" r:id="rId1"/>
  </p:sldMasterIdLst>
  <p:notesMasterIdLst>
    <p:notesMasterId r:id="rId19"/>
  </p:notesMasterIdLst>
  <p:handoutMasterIdLst>
    <p:handoutMasterId r:id="rId20"/>
  </p:handoutMasterIdLst>
  <p:sldIdLst>
    <p:sldId id="258" r:id="rId2"/>
    <p:sldId id="1872" r:id="rId3"/>
    <p:sldId id="1873" r:id="rId4"/>
    <p:sldId id="1874" r:id="rId5"/>
    <p:sldId id="1875" r:id="rId6"/>
    <p:sldId id="1876" r:id="rId7"/>
    <p:sldId id="1877" r:id="rId8"/>
    <p:sldId id="1878" r:id="rId9"/>
    <p:sldId id="1879" r:id="rId10"/>
    <p:sldId id="1880" r:id="rId11"/>
    <p:sldId id="1881" r:id="rId12"/>
    <p:sldId id="1882" r:id="rId13"/>
    <p:sldId id="1883" r:id="rId14"/>
    <p:sldId id="1884" r:id="rId15"/>
    <p:sldId id="1886" r:id="rId16"/>
    <p:sldId id="1887" r:id="rId17"/>
    <p:sldId id="1871" r:id="rId18"/>
  </p:sldIdLst>
  <p:sldSz cx="12192000" cy="6858000"/>
  <p:notesSz cx="6805613" cy="99441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Helvetica" panose="020B0604020202020204" pitchFamily="34" charset="0"/>
      <p:regular r:id="rId25"/>
      <p:bold r:id="rId26"/>
      <p:italic r:id="rId27"/>
      <p:boldItalic r:id="rId28"/>
    </p:embeddedFont>
    <p:embeddedFont>
      <p:font typeface="Montserrat" panose="00000500000000000000" pitchFamily="2" charset="0"/>
      <p:regular r:id="rId29"/>
      <p:bold r:id="rId30"/>
      <p:italic r:id="rId31"/>
      <p:boldItalic r:id="rId32"/>
    </p:embeddedFont>
    <p:embeddedFont>
      <p:font typeface="Montserrat ExtraBold" panose="00000900000000000000" pitchFamily="2" charset="0"/>
      <p:bold r:id="rId33"/>
      <p:boldItalic r:id="rId34"/>
    </p:embeddedFont>
    <p:embeddedFont>
      <p:font typeface="Montserrat Medium" panose="00000600000000000000" pitchFamily="2" charset="0"/>
      <p:regular r:id="rId35"/>
      <p:italic r:id="rId36"/>
    </p:embeddedFont>
    <p:embeddedFont>
      <p:font typeface="Montserrat SemiBold" panose="00000700000000000000" pitchFamily="2" charset="0"/>
      <p:bold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dy Amr" initials="HA" lastIdx="4" clrIdx="0">
    <p:extLst>
      <p:ext uri="{19B8F6BF-5375-455C-9EA6-DF929625EA0E}">
        <p15:presenceInfo xmlns:p15="http://schemas.microsoft.com/office/powerpoint/2012/main" userId="S-1-5-21-3277783509-413982646-2915277565-8099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59494"/>
    <a:srgbClr val="333333"/>
    <a:srgbClr val="DCDDDC"/>
    <a:srgbClr val="705CA0"/>
    <a:srgbClr val="B4A091"/>
    <a:srgbClr val="CAB099"/>
    <a:srgbClr val="CBB099"/>
    <a:srgbClr val="B07B4C"/>
    <a:srgbClr val="7030CD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26" autoAdjust="0"/>
    <p:restoredTop sz="94660"/>
  </p:normalViewPr>
  <p:slideViewPr>
    <p:cSldViewPr snapToGrid="0">
      <p:cViewPr varScale="1">
        <p:scale>
          <a:sx n="98" d="100"/>
          <a:sy n="98" d="100"/>
        </p:scale>
        <p:origin x="77" y="21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0" d="100"/>
          <a:sy n="110" d="100"/>
        </p:scale>
        <p:origin x="5328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commentAuthors" Target="commentAuthor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0FB7F11-DEBA-C34D-87F6-F635C4544F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Montserra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319B9F-779B-5F4C-88D2-45EF706679B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Montserra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0AC62-AFAC-3146-ADAC-91C2768BB6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450" y="9445625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BCFC26-6E06-AF4D-8C49-7427B323F85D}" type="slidenum">
              <a:rPr lang="en-US" smtClean="0">
                <a:latin typeface="Montserrat" pitchFamily="2" charset="77"/>
              </a:rPr>
              <a:t>‹#›</a:t>
            </a:fld>
            <a:endParaRPr lang="en-US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638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" pitchFamily="2" charset="77"/>
              </a:defRPr>
            </a:lvl1pPr>
          </a:lstStyle>
          <a:p>
            <a:fld id="{F89EFCC9-B01B-4469-98A7-6EE962AED853}" type="datetimeFigureOut">
              <a:rPr lang="en-US" smtClean="0"/>
              <a:pPr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" pitchFamily="2" charset="77"/>
              </a:defRPr>
            </a:lvl1pPr>
          </a:lstStyle>
          <a:p>
            <a:fld id="{495BA75E-8B19-4E43-8263-6CEEC8CE2A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81554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ontserrat" pitchFamily="2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0C96B7-7991-654F-B643-CE31BC2B4E2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31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3">
            <a:extLst>
              <a:ext uri="{FF2B5EF4-FFF2-40B4-BE49-F238E27FC236}">
                <a16:creationId xmlns:a16="http://schemas.microsoft.com/office/drawing/2014/main" id="{3A8D9E0C-6109-7E46-BE53-1248E80496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25" y="-56381"/>
            <a:ext cx="12181975" cy="68546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BEB7E5-B353-0B47-5AF3-E34C1783FC08}"/>
              </a:ext>
            </a:extLst>
          </p:cNvPr>
          <p:cNvSpPr txBox="1"/>
          <p:nvPr userDrawn="1"/>
        </p:nvSpPr>
        <p:spPr>
          <a:xfrm>
            <a:off x="747151" y="738393"/>
            <a:ext cx="3540234" cy="4909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lvl="0"/>
            <a:r>
              <a:rPr lang="en-US" sz="2000" b="1" spc="300" dirty="0">
                <a:solidFill>
                  <a:srgbClr val="C00000"/>
                </a:solidFill>
                <a:latin typeface="Montserrat SemiBold" pitchFamily="2" charset="77"/>
              </a:rPr>
              <a:t>ELSEWEDY ELECTRIC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C1715A-DA73-65BD-39A8-074A0FB37D0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7150" y="1229293"/>
            <a:ext cx="9674587" cy="490900"/>
          </a:xfrm>
          <a:prstGeom prst="rect">
            <a:avLst/>
          </a:prstGeom>
        </p:spPr>
        <p:txBody>
          <a:bodyPr/>
          <a:lstStyle>
            <a:lvl1pPr>
              <a:buNone/>
              <a:defRPr sz="3200">
                <a:latin typeface="Montserrat ExtraBold" panose="00000900000000000000" pitchFamily="2" charset="0"/>
              </a:defRPr>
            </a:lvl1pPr>
          </a:lstStyle>
          <a:p>
            <a:pPr lvl="0"/>
            <a:r>
              <a:rPr lang="en-US" dirty="0"/>
              <a:t>CLICK TO ADD MASTER TITLE</a:t>
            </a:r>
            <a:endParaRPr lang="en-AE" dirty="0"/>
          </a:p>
        </p:txBody>
      </p:sp>
      <p:pic>
        <p:nvPicPr>
          <p:cNvPr id="2" name="Picture 1" descr="UAE&#10;&#10;AI-generated content may be incorrect.">
            <a:extLst>
              <a:ext uri="{FF2B5EF4-FFF2-40B4-BE49-F238E27FC236}">
                <a16:creationId xmlns:a16="http://schemas.microsoft.com/office/drawing/2014/main" id="{F8EAC58F-8A67-7F91-3998-85619BD60D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362" y="4825913"/>
            <a:ext cx="2319043" cy="1478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69206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INDEX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349CF6B-508B-2B42-BCCB-BD0C05CFA9A4}"/>
              </a:ext>
            </a:extLst>
          </p:cNvPr>
          <p:cNvCxnSpPr>
            <a:cxnSpLocks/>
          </p:cNvCxnSpPr>
          <p:nvPr userDrawn="1"/>
        </p:nvCxnSpPr>
        <p:spPr>
          <a:xfrm>
            <a:off x="4075206" y="1403899"/>
            <a:ext cx="0" cy="47899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54C157-FBF7-9F42-B75B-62EA83B7BB44}"/>
              </a:ext>
            </a:extLst>
          </p:cNvPr>
          <p:cNvCxnSpPr>
            <a:cxnSpLocks/>
          </p:cNvCxnSpPr>
          <p:nvPr userDrawn="1"/>
        </p:nvCxnSpPr>
        <p:spPr>
          <a:xfrm>
            <a:off x="8116796" y="1403899"/>
            <a:ext cx="0" cy="478999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9">
            <a:extLst>
              <a:ext uri="{FF2B5EF4-FFF2-40B4-BE49-F238E27FC236}">
                <a16:creationId xmlns:a16="http://schemas.microsoft.com/office/drawing/2014/main" id="{4025E2B7-6317-9A40-B830-1CD7A3E353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713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wrap="square" lIns="180000" tIns="180000" rIns="180000" bIns="180000" anchor="ctr">
            <a:noAutofit/>
          </a:bodyPr>
          <a:lstStyle>
            <a:lvl1pPr marL="0" indent="0">
              <a:buFont typeface="+mj-lt"/>
              <a:buNone/>
              <a:defRPr lang="en-US" sz="1000" b="0" smtClean="0">
                <a:solidFill>
                  <a:schemeClr val="tx1"/>
                </a:solidFill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defTabSz="914286"/>
            <a:endParaRPr lang="en-US" dirty="0"/>
          </a:p>
        </p:txBody>
      </p:sp>
      <p:sp>
        <p:nvSpPr>
          <p:cNvPr id="7" name="Text Placeholder 29">
            <a:extLst>
              <a:ext uri="{FF2B5EF4-FFF2-40B4-BE49-F238E27FC236}">
                <a16:creationId xmlns:a16="http://schemas.microsoft.com/office/drawing/2014/main" id="{A44761C1-F108-7445-8673-578FACCEC89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72302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7E006236-84DE-FB44-974D-B9BBF01A99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13891" y="140389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BA484B4E-98B7-AC45-8C88-7B86A486C7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713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0495F2D4-58FA-3049-A1F8-0741B55A38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472302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F1A39101-8388-704C-BBF5-CEAE07EB88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13891" y="2112272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69674708-DFFE-3740-B758-E237AF1EBD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0713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DAD854A2-BC11-6C43-904D-C93B3F43D71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72302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844592B2-3777-0242-AD1A-8D2312E1BD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13891" y="2820645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958A81E4-E7FC-E14B-8232-31C0C45A43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0713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7AD5782-D971-8543-94E4-9421C50AD9E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72302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19" name="Text Placeholder 29">
            <a:extLst>
              <a:ext uri="{FF2B5EF4-FFF2-40B4-BE49-F238E27FC236}">
                <a16:creationId xmlns:a16="http://schemas.microsoft.com/office/drawing/2014/main" id="{D40D3411-B702-B14D-83CB-EC3C30E4C49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513891" y="3529018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0" name="Text Placeholder 29">
            <a:extLst>
              <a:ext uri="{FF2B5EF4-FFF2-40B4-BE49-F238E27FC236}">
                <a16:creationId xmlns:a16="http://schemas.microsoft.com/office/drawing/2014/main" id="{FCB4B815-0967-344E-90F9-5250B8A278F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0713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47140993-6A53-3943-BD38-FC375D8B43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472302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84654FB7-9BBD-6B40-8B0D-92F35E5690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13891" y="4237391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B404DD94-41DC-A343-ACBF-AFF12218591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30713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70AFC752-B6DC-5D4F-A022-C6BA7F2E310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472302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05ADAB9E-F0E3-1544-80DF-8C6FDEABD2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513891" y="5654139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2D1A509F-32E9-6246-BCD5-B69C4D7D13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30713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5DC9738B-2B79-2849-800F-7147C218BD7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472302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7A3EE38E-1F6E-DE4C-9F87-AE388B4FB4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513891" y="4945764"/>
            <a:ext cx="3257979" cy="539750"/>
          </a:xfrm>
          <a:prstGeom prst="roundRect">
            <a:avLst/>
          </a:prstGeom>
          <a:solidFill>
            <a:schemeClr val="bg1"/>
          </a:solidFill>
        </p:spPr>
        <p:txBody>
          <a:bodyPr vert="horz" wrap="square" lIns="180000" tIns="180000" rIns="180000" bIns="180000" rtlCol="0" anchor="ctr">
            <a:noAutofit/>
          </a:bodyPr>
          <a:lstStyle>
            <a:lvl1pPr marL="0" indent="0">
              <a:buFont typeface="+mj-lt"/>
              <a:buNone/>
              <a:defRPr lang="en-US" sz="1000" b="0" dirty="0">
                <a:latin typeface="Montserrat" panose="00000500000000000000" pitchFamily="2" charset="0"/>
                <a:cs typeface="Arial" panose="020B0604020202020204" pitchFamily="34" charset="0"/>
              </a:defRPr>
            </a:lvl1pPr>
            <a:lvl2pPr>
              <a:defRPr lang="en-US" sz="1800" smtClean="0"/>
            </a:lvl2pPr>
            <a:lvl3pPr>
              <a:defRPr lang="en-US" sz="1800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286">
              <a:buFont typeface="+mj-lt"/>
              <a:buNone/>
            </a:pP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5B009C1-B416-D593-A838-9804EE35FA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541970"/>
      </p:ext>
    </p:extLst>
  </p:cSld>
  <p:clrMapOvr>
    <a:masterClrMapping/>
  </p:clrMapOvr>
  <p:transition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CC2CF9-B859-0C4F-A270-E122DD67BC0F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98950DD-AEF6-2A1E-629F-3723063F29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1679" y="1573473"/>
            <a:ext cx="10788641" cy="422751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2" name="Title 14">
            <a:extLst>
              <a:ext uri="{FF2B5EF4-FFF2-40B4-BE49-F238E27FC236}">
                <a16:creationId xmlns:a16="http://schemas.microsoft.com/office/drawing/2014/main" id="{B7E1F8B9-17C1-BF32-69A9-6E65CC9A4F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CE20D840-8294-B96E-502F-8C3C5F0B40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D1AE866-0DDD-7F5A-508D-E6B4F7ED0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23629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2770" y="1762927"/>
            <a:ext cx="5368788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ADD DESCRIPTION</a:t>
            </a: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84E8A48-E034-ED49-B64B-7D8FDBD04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6096000" cy="6858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EAEB1951-89B2-678D-9CF4-8F27FC941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FA429E1F-9297-2FD8-BF3B-0C9BE0F169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31988" y="2404334"/>
            <a:ext cx="5030353" cy="339127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484952"/>
      </p:ext>
    </p:extLst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CC2CF9-B859-0C4F-A270-E122DD67BC0F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4" name="Title 14">
            <a:extLst>
              <a:ext uri="{FF2B5EF4-FFF2-40B4-BE49-F238E27FC236}">
                <a16:creationId xmlns:a16="http://schemas.microsoft.com/office/drawing/2014/main" id="{A4882DA8-E95D-6149-A8F7-F181B7B13C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2F7F7BAC-66D4-546A-181A-061DE937EC1E}"/>
              </a:ext>
            </a:extLst>
          </p:cNvPr>
          <p:cNvSpPr/>
          <p:nvPr userDrawn="1"/>
        </p:nvSpPr>
        <p:spPr>
          <a:xfrm>
            <a:off x="429710" y="1602559"/>
            <a:ext cx="11329286" cy="4823440"/>
          </a:xfrm>
          <a:prstGeom prst="roundRect">
            <a:avLst>
              <a:gd name="adj" fmla="val 3881"/>
            </a:avLst>
          </a:prstGeom>
          <a:solidFill>
            <a:schemeClr val="bg1">
              <a:alpha val="3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288000" rtlCol="0" anchor="b"/>
          <a:lstStyle/>
          <a:p>
            <a:pPr marL="0" algn="ctr" defTabSz="914400" rtl="0" eaLnBrk="1" latinLnBrk="0" hangingPunct="1"/>
            <a:endParaRPr lang="en-US" sz="2000" dirty="0">
              <a:solidFill>
                <a:srgbClr val="C00000"/>
              </a:solidFill>
              <a:latin typeface="Montserrat Medium" pitchFamily="2" charset="77"/>
            </a:endParaRP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CAAEB44D-7AB3-B3EE-E116-0E36A908B0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1BD45197-408D-B09D-2DCE-C95A26A315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033" y="1900523"/>
            <a:ext cx="10788641" cy="4227512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  <a:lvl2pPr>
              <a:defRPr lang="en-US" sz="1400" b="0" i="0" kern="1200" dirty="0" smtClean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2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add text</a:t>
            </a:r>
          </a:p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7725657-71AF-DDC8-88F6-5EFA3B8DF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03241"/>
      </p:ext>
    </p:extLst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BE0C7E1A-0F81-BD46-9EAA-9B9F4223653F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39271" y="1296000"/>
            <a:ext cx="11313458" cy="5130000"/>
          </a:xfrm>
          <a:prstGeom prst="rect">
            <a:avLst/>
          </a:prstGeom>
          <a:noFill/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AD6E70FF-4CE3-C2A7-0293-C95A2E3F0E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E77A6B4-F42C-8A66-3B28-3C3E08FD36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DBD84376-8D52-D516-3615-692C3619B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4502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66426"/>
      </p:ext>
    </p:extLst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6" name="SmartArt Placeholder 2">
            <a:extLst>
              <a:ext uri="{FF2B5EF4-FFF2-40B4-BE49-F238E27FC236}">
                <a16:creationId xmlns:a16="http://schemas.microsoft.com/office/drawing/2014/main" id="{F2AC3CBE-9F86-DF41-B1FC-894F3E237B66}"/>
              </a:ext>
            </a:extLst>
          </p:cNvPr>
          <p:cNvSpPr>
            <a:spLocks noGrp="1"/>
          </p:cNvSpPr>
          <p:nvPr>
            <p:ph type="dgm" sz="quarter" idx="10"/>
          </p:nvPr>
        </p:nvSpPr>
        <p:spPr>
          <a:xfrm>
            <a:off x="430306" y="1296000"/>
            <a:ext cx="1133138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Title 14">
            <a:extLst>
              <a:ext uri="{FF2B5EF4-FFF2-40B4-BE49-F238E27FC236}">
                <a16:creationId xmlns:a16="http://schemas.microsoft.com/office/drawing/2014/main" id="{0C4952CF-4B72-3F5E-B476-5631A6DC79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7A536A7-6C3A-2E03-1031-D72A659A39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8F68DBE-5DD3-E69D-D8E2-B0272018F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505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65492"/>
      </p:ext>
    </p:extLst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4300378F-23C3-2F45-9F03-229DB038179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30306" y="1296000"/>
            <a:ext cx="1133138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CFA00891-D3AD-0B55-6350-078F95DB25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50C2C416-8212-42D7-03BD-F30F6F3A0DA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3F162E4-386F-0FB1-BD9B-3EE2B6F7B9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89762"/>
      </p:ext>
    </p:extLst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284E8A48-E034-ED49-B64B-7D8FDBD04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341" y="1296000"/>
            <a:ext cx="1134931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bg2">
                    <a:lumMod val="25000"/>
                  </a:schemeClr>
                </a:solidFill>
                <a:latin typeface="Helvetica" pitchFamily="2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Title 14">
            <a:extLst>
              <a:ext uri="{FF2B5EF4-FFF2-40B4-BE49-F238E27FC236}">
                <a16:creationId xmlns:a16="http://schemas.microsoft.com/office/drawing/2014/main" id="{58C46747-D099-B08B-5414-32FF48EDE5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667884C-A1F0-08D8-1171-0B7820A758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E0D47CC-6A09-8D04-3EAF-620A39C33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616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46495"/>
      </p:ext>
    </p:extLst>
  </p:cSld>
  <p:clrMapOvr>
    <a:masterClrMapping/>
  </p:clrMapOvr>
  <p:transition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5" name="Media Placeholder 2">
            <a:extLst>
              <a:ext uri="{FF2B5EF4-FFF2-40B4-BE49-F238E27FC236}">
                <a16:creationId xmlns:a16="http://schemas.microsoft.com/office/drawing/2014/main" id="{0A0535E6-E205-2D47-BE06-193FA3140088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21341" y="1296000"/>
            <a:ext cx="11349318" cy="5130000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4" name="Title 14">
            <a:extLst>
              <a:ext uri="{FF2B5EF4-FFF2-40B4-BE49-F238E27FC236}">
                <a16:creationId xmlns:a16="http://schemas.microsoft.com/office/drawing/2014/main" id="{B8D10B76-3C59-B546-EEFF-24AC65EDBA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1800" b="1" i="0">
                <a:solidFill>
                  <a:schemeClr val="bg2">
                    <a:lumMod val="25000"/>
                  </a:schemeClr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3A7B00F-DDDD-E929-87A1-AFE54BD61F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0999" y="754234"/>
            <a:ext cx="3070225" cy="3081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lang="en-AE" sz="1600" b="0" i="0" kern="1200" dirty="0">
                <a:solidFill>
                  <a:schemeClr val="bg2">
                    <a:lumMod val="25000"/>
                  </a:schemeClr>
                </a:solidFill>
                <a:latin typeface="Montserrat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Click to add subtitle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782158646"/>
      </p:ext>
    </p:extLst>
  </p:cSld>
  <p:clrMapOvr>
    <a:masterClrMapping/>
  </p:clrMapOvr>
  <p:transition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5687B-E33D-184B-B838-4C4202BA66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235" y="510988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6A2CCB2-18C6-E575-2CC9-951A92618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38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3">
            <a:extLst>
              <a:ext uri="{FF2B5EF4-FFF2-40B4-BE49-F238E27FC236}">
                <a16:creationId xmlns:a16="http://schemas.microsoft.com/office/drawing/2014/main" id="{0A124393-CA7E-064F-B35F-9994CBA928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6" y="0"/>
            <a:ext cx="12187987" cy="6857999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34D326D-7DFB-6241-A663-CD8F13E6ECE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082918"/>
            <a:ext cx="0" cy="221050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8161318-CC72-5E4B-B6D1-F9F205947C53}"/>
              </a:ext>
            </a:extLst>
          </p:cNvPr>
          <p:cNvSpPr txBox="1"/>
          <p:nvPr userDrawn="1"/>
        </p:nvSpPr>
        <p:spPr>
          <a:xfrm>
            <a:off x="6096001" y="1818339"/>
            <a:ext cx="6095999" cy="59259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24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SCAN THE</a:t>
            </a:r>
            <a:r>
              <a:rPr lang="en-US" sz="2400" b="0" i="0" dirty="0">
                <a:latin typeface="Montserrat Medium" pitchFamily="2" charset="77"/>
                <a:cs typeface="Arial" panose="020B0604020202020204" pitchFamily="34" charset="0"/>
              </a:rPr>
              <a:t> </a:t>
            </a:r>
            <a:r>
              <a:rPr lang="en-US" sz="24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QR CODES</a:t>
            </a:r>
          </a:p>
          <a:p>
            <a:pPr algn="ctr"/>
            <a:r>
              <a:rPr lang="en-US" sz="1400" b="0" i="0" spc="30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TO VIEW 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699344-DE93-3D4C-92B2-AE88961C9C27}"/>
              </a:ext>
            </a:extLst>
          </p:cNvPr>
          <p:cNvSpPr txBox="1"/>
          <p:nvPr userDrawn="1"/>
        </p:nvSpPr>
        <p:spPr>
          <a:xfrm>
            <a:off x="6663033" y="4098842"/>
            <a:ext cx="152232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</a:rPr>
              <a:t>CORPORATE</a:t>
            </a:r>
            <a:endParaRPr lang="ar-SA" sz="1200" b="0" i="0" dirty="0">
              <a:solidFill>
                <a:schemeClr val="bg2">
                  <a:lumMod val="25000"/>
                </a:schemeClr>
              </a:solidFill>
              <a:latin typeface="Montserrat Medium" pitchFamily="2" charset="77"/>
            </a:endParaRP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</a:rPr>
              <a:t>PRESENTATION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A139EB-1B55-E14A-B92F-CFCFC0D90F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2072" y="2704479"/>
            <a:ext cx="1304243" cy="13042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116703-EB23-A34F-938E-3628166555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17411" y="2706693"/>
            <a:ext cx="1299816" cy="129981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D67E82A-E3A7-4F45-B77D-A5DBF898BF93}"/>
              </a:ext>
            </a:extLst>
          </p:cNvPr>
          <p:cNvSpPr txBox="1"/>
          <p:nvPr userDrawn="1"/>
        </p:nvSpPr>
        <p:spPr>
          <a:xfrm>
            <a:off x="8494092" y="4098842"/>
            <a:ext cx="130684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CORPORATE</a:t>
            </a: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MAGAZINE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0EFAEE-A905-8041-ADD3-AD8D5FE459A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94092" y="2703180"/>
            <a:ext cx="1306842" cy="13068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E0489F1-DA0F-FE48-BF0D-1E52B1D6E1CC}"/>
              </a:ext>
            </a:extLst>
          </p:cNvPr>
          <p:cNvSpPr txBox="1"/>
          <p:nvPr userDrawn="1"/>
        </p:nvSpPr>
        <p:spPr>
          <a:xfrm>
            <a:off x="10219654" y="4098842"/>
            <a:ext cx="1306842" cy="4002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en-US" sz="12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CORPORATE</a:t>
            </a:r>
          </a:p>
          <a:p>
            <a:pPr algn="ctr"/>
            <a:r>
              <a:rPr lang="en-US" sz="1200" b="0" i="0" dirty="0">
                <a:solidFill>
                  <a:srgbClr val="C00000"/>
                </a:solidFill>
                <a:latin typeface="Montserrat Medium" pitchFamily="2" charset="77"/>
                <a:cs typeface="Arial" panose="020B0604020202020204" pitchFamily="34" charset="0"/>
              </a:rPr>
              <a:t>WEBSITE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44C1FE-6013-C541-B818-CE24813EFB19}"/>
              </a:ext>
            </a:extLst>
          </p:cNvPr>
          <p:cNvSpPr/>
          <p:nvPr userDrawn="1"/>
        </p:nvSpPr>
        <p:spPr>
          <a:xfrm>
            <a:off x="2215770" y="3574394"/>
            <a:ext cx="1675139" cy="16927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/>
            <a:r>
              <a:rPr lang="en-US" sz="1100" b="0" i="0" dirty="0">
                <a:solidFill>
                  <a:schemeClr val="bg2">
                    <a:lumMod val="25000"/>
                  </a:schemeClr>
                </a:solidFill>
                <a:latin typeface="Montserrat Medium" pitchFamily="2" charset="77"/>
                <a:cs typeface="Arial" panose="020B0604020202020204" pitchFamily="34" charset="0"/>
              </a:rPr>
              <a:t>@ELSEWEDYELECTRIC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F37F056-01F9-114F-ABCC-7AADC0A0428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22160" y="3850398"/>
            <a:ext cx="459165" cy="4591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FAD8475-93A4-DC41-8B6A-6FE79001B4A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0263" y="3850398"/>
            <a:ext cx="459165" cy="45916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8A418A0-FBFA-E949-B713-C4AECE92D8C2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1302" y="3850397"/>
            <a:ext cx="459166" cy="4591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69CD51-DCE7-924B-834B-2C6AA34E620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37250" y="3850397"/>
            <a:ext cx="459165" cy="45916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B3BABF9-B293-2A48-BBBE-9C4D1D98DF97}"/>
              </a:ext>
            </a:extLst>
          </p:cNvPr>
          <p:cNvSpPr/>
          <p:nvPr userDrawn="1"/>
        </p:nvSpPr>
        <p:spPr>
          <a:xfrm>
            <a:off x="0" y="6238294"/>
            <a:ext cx="12190756" cy="619706"/>
          </a:xfrm>
          <a:prstGeom prst="rect">
            <a:avLst/>
          </a:prstGeom>
          <a:solidFill>
            <a:srgbClr val="CC2122"/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dirty="0">
              <a:latin typeface="Montserrat" pitchFamily="2" charset="77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73ECBE-113D-A04E-B1BA-4636A551DCCD}"/>
              </a:ext>
            </a:extLst>
          </p:cNvPr>
          <p:cNvSpPr/>
          <p:nvPr userDrawn="1"/>
        </p:nvSpPr>
        <p:spPr>
          <a:xfrm>
            <a:off x="4297610" y="6486592"/>
            <a:ext cx="3595536" cy="123111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r"/>
            <a:r>
              <a:rPr lang="en-US" sz="800" b="0" i="0" spc="600" dirty="0">
                <a:solidFill>
                  <a:schemeClr val="bg1"/>
                </a:solidFill>
                <a:latin typeface="Montserrat Medium" pitchFamily="2" charset="77"/>
                <a:cs typeface="Arial" panose="020B0604020202020204" pitchFamily="34" charset="0"/>
              </a:rPr>
              <a:t>WWW.ELSEWEDYELECTRIC.COM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F178E2-7D29-7E77-259B-4B2C6B093CD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66212" y="3850398"/>
            <a:ext cx="459165" cy="459165"/>
          </a:xfrm>
          <a:prstGeom prst="rect">
            <a:avLst/>
          </a:prstGeom>
        </p:spPr>
      </p:pic>
      <p:pic>
        <p:nvPicPr>
          <p:cNvPr id="3" name="Picture 2" descr="UAE&#10;&#10;AI-generated content may be incorrect.">
            <a:extLst>
              <a:ext uri="{FF2B5EF4-FFF2-40B4-BE49-F238E27FC236}">
                <a16:creationId xmlns:a16="http://schemas.microsoft.com/office/drawing/2014/main" id="{AAF8F86F-E0A1-FBD2-ECE3-C5A312E86BC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343" y="1196360"/>
            <a:ext cx="3810112" cy="242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3382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2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0" grpId="0"/>
      <p:bldP spid="12" grpId="0"/>
      <p:bldP spid="13" grpId="0"/>
      <p:bldP spid="21" grpId="0" animBg="1"/>
      <p:bldP spid="2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F99847F-E21B-F74A-B2F9-A247BB9F2DB4}"/>
              </a:ext>
            </a:extLst>
          </p:cNvPr>
          <p:cNvSpPr>
            <a:spLocks/>
          </p:cNvSpPr>
          <p:nvPr userDrawn="1"/>
        </p:nvSpPr>
        <p:spPr>
          <a:xfrm flipV="1"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itchFamily="2" charset="77"/>
            </a:endParaRPr>
          </a:p>
        </p:txBody>
      </p:sp>
      <p:sp>
        <p:nvSpPr>
          <p:cNvPr id="16" name="Title 14">
            <a:extLst>
              <a:ext uri="{FF2B5EF4-FFF2-40B4-BE49-F238E27FC236}">
                <a16:creationId xmlns:a16="http://schemas.microsoft.com/office/drawing/2014/main" id="{F7DBB9A1-C198-8043-8471-DC306D3A6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0999" y="358131"/>
            <a:ext cx="9156065" cy="360000"/>
          </a:xfrm>
        </p:spPr>
        <p:txBody>
          <a:bodyPr lIns="0" tIns="0" rIns="0" bIns="0">
            <a:normAutofit/>
          </a:bodyPr>
          <a:lstStyle>
            <a:lvl1pPr>
              <a:defRPr sz="1600" b="1" i="0">
                <a:solidFill>
                  <a:schemeClr val="bg2">
                    <a:lumMod val="25000"/>
                  </a:schemeClr>
                </a:solidFill>
                <a:latin typeface="Helvetica" pitchFamily="2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56061397"/>
      </p:ext>
    </p:extLst>
  </p:cSld>
  <p:clrMapOvr>
    <a:masterClrMapping/>
  </p:clrMapOvr>
  <p:transition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3">
            <a:extLst>
              <a:ext uri="{FF2B5EF4-FFF2-40B4-BE49-F238E27FC236}">
                <a16:creationId xmlns:a16="http://schemas.microsoft.com/office/drawing/2014/main" id="{20DF5A17-D377-7C4D-9CD0-A5266C9AEDE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06" y="0"/>
            <a:ext cx="12187987" cy="68579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05615-980F-2746-81E0-978C4A97FB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D378E-561F-0342-8274-24971F48A3D2}" type="slidenum">
              <a:rPr lang="en-US" smtClean="0"/>
              <a:t>‹#›</a:t>
            </a:fld>
            <a:endParaRPr lang="en-US"/>
          </a:p>
        </p:txBody>
      </p:sp>
      <p:pic>
        <p:nvPicPr>
          <p:cNvPr id="37" name="Picture 36" descr="UAE&#10;&#10;AI-generated content may be incorrect.">
            <a:extLst>
              <a:ext uri="{FF2B5EF4-FFF2-40B4-BE49-F238E27FC236}">
                <a16:creationId xmlns:a16="http://schemas.microsoft.com/office/drawing/2014/main" id="{32040177-376C-C5C3-1E58-96F7C005AE09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013" y="152950"/>
            <a:ext cx="1513666" cy="96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156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76" r:id="rId2"/>
    <p:sldLayoutId id="2147483684" r:id="rId3"/>
    <p:sldLayoutId id="2147483677" r:id="rId4"/>
    <p:sldLayoutId id="2147483673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70" r:id="rId11"/>
    <p:sldLayoutId id="2147483672" r:id="rId12"/>
    <p:sldLayoutId id="214748368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00000" y="1120000"/>
            <a:ext cx="6950000" cy="2120000"/>
          </a:xfrm>
          <a:prstGeom prst="roundRect">
            <a:avLst>
              <a:gd name="adj" fmla="val 3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0301CEA-9D68-DC56-9735-2C78646EBC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10000" y="1300000"/>
            <a:ext cx="6391169" cy="1800000"/>
          </a:xfrm>
        </p:spPr>
        <p:txBody>
          <a:bodyPr wrap="square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dirty="0">
                <a:solidFill>
                  <a:srgbClr val="000000"/>
                </a:solidFill>
                <a:latin typeface="Montserrat"/>
              </a:rPr>
              <a:t>SMART ATTENDANCE &amp; GEOFENCING</a:t>
            </a:r>
            <a:endParaRPr lang="en-AE" dirty="0"/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1250" b="0" dirty="0">
                <a:solidFill>
                  <a:srgbClr val="333333"/>
                </a:solidFill>
                <a:latin typeface="Montserrat"/>
              </a:rPr>
              <a:t>Native geofencing for continuous presence, confirmed server-side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dirty="0">
                <a:solidFill>
                  <a:srgbClr val="CE1B28"/>
                </a:solidFill>
                <a:latin typeface="Montserrat"/>
              </a:rPr>
              <a:t>Summer Internship Project  ·  </a:t>
            </a:r>
            <a:endParaRPr lang="en-US" sz="1050" b="1" dirty="0">
              <a:solidFill>
                <a:srgbClr val="CE1B28"/>
              </a:solidFill>
              <a:latin typeface="Montserrat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333333"/>
                </a:solidFill>
                <a:latin typeface="Montserrat"/>
              </a:rPr>
              <a:t>Ahmed </a:t>
            </a:r>
            <a:r>
              <a:rPr lang="en-US" sz="1050" dirty="0">
                <a:solidFill>
                  <a:srgbClr val="333333"/>
                </a:solidFill>
                <a:latin typeface="Montserrat"/>
              </a:rPr>
              <a:t>Hany, Muhammad Rizwan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  ·  Software Engineering Intern  ·  El </a:t>
            </a:r>
            <a:r>
              <a:rPr sz="1050" b="0" dirty="0" err="1">
                <a:solidFill>
                  <a:srgbClr val="333333"/>
                </a:solidFill>
                <a:latin typeface="Montserrat"/>
              </a:rPr>
              <a:t>Sewedy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 Electric</a:t>
            </a:r>
            <a:r>
              <a:rPr lang="en-US" sz="1050" b="0" dirty="0">
                <a:solidFill>
                  <a:srgbClr val="333333"/>
                </a:solidFill>
                <a:latin typeface="Montserrat"/>
              </a:rPr>
              <a:t> </a:t>
            </a:r>
            <a:r>
              <a:rPr sz="1050" b="0" dirty="0">
                <a:solidFill>
                  <a:srgbClr val="333333"/>
                </a:solidFill>
                <a:latin typeface="Montserrat"/>
              </a:rPr>
              <a:t>UAE</a:t>
            </a:r>
          </a:p>
        </p:txBody>
      </p:sp>
    </p:spTree>
    <p:extLst>
      <p:ext uri="{BB962C8B-B14F-4D97-AF65-F5344CB8AC3E}">
        <p14:creationId xmlns:p14="http://schemas.microsoft.com/office/powerpoint/2010/main" val="4231075969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0000" y="753000"/>
            <a:ext cx="233397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>
                <a:solidFill>
                  <a:srgbClr val="CE1B28"/>
                </a:solidFill>
                <a:latin typeface="Montserrat"/>
              </a:rPr>
              <a:t>Smart Attendance &amp; Geofencing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8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0000" y="175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000" y="169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The problem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Why a button press is not attendance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6000" y="148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586000" y="175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6000" y="169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Montserrat"/>
              </a:rPr>
              <a:t>What was built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Three surfaces, one decision authority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268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80000" y="29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000" y="289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System architecture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Clients, API,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6000" y="2685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86000" y="29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6000" y="2895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Native geofencing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How presence is detected, continuously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89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80000" y="416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000" y="410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Server-side confirmation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How every report is checked before it is trusted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6000" y="3890000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86000" y="4165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6000" y="4100000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Verification methods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Geofence, biometrics, supervisor QR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03000" y="5227092"/>
            <a:ext cx="5186000" cy="101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720000" y="5502092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Montserrat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7000" y="5502092"/>
            <a:ext cx="4006000" cy="5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dirty="0">
                <a:solidFill>
                  <a:srgbClr val="333333"/>
                </a:solidFill>
                <a:latin typeface="Montserrat"/>
              </a:rPr>
              <a:t>Admin control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Locations, radii and the method per employee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01  ·  Why this project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330000"/>
            <a:ext cx="10792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33333"/>
                </a:solidFill>
                <a:latin typeface="Montserrat"/>
              </a:rPr>
              <a:t>“How can we confidently verify that an employee is actually present in the approved work area?”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20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40000" y="256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000" y="241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ontserrat"/>
              </a:rPr>
              <a:t>A button press proves intent, not presence.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Manual timesheets and tap-to-clock-in record a claim, once, at the moment of the tap. Nothing after that is observed, and when a claim is disputed there is no evidence on either side.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356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0000" y="392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00000" y="377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33333"/>
                </a:solidFill>
                <a:latin typeface="Montserrat"/>
              </a:rPr>
              <a:t>And a claim made by the phone is still only a claim.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If the app itself decides whether it is inside the radius and posts a boolean, a modified client, a mock-location provider or a plain curl request can claim any position on earth.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0000" y="4920000"/>
            <a:ext cx="10792000" cy="118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0000" y="5280000"/>
            <a:ext cx="460000" cy="46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000" y="5130000"/>
            <a:ext cx="9392000" cy="7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CE1B28"/>
                </a:solidFill>
                <a:latin typeface="Montserrat"/>
              </a:rPr>
              <a:t>So the operating system watches, and the server checks.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616161"/>
                </a:solidFill>
                <a:latin typeface="Montserrat"/>
              </a:rPr>
              <a:t>Native OS geofencing detects entry, dwell and exit continuously, with no action from the employee. Every event it reports is then re-measured on the server against the approved radius — so a report is only trusted once it has been confirmed.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WHAT WAS BUILT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02  ·  Three surfaces, one decision authority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FLUTTER 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00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Dart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0000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19.7k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lines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Native OS geofencing per approved location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Check-in / check-out with live inside-outside state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Offline event queue drained on reconnect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Fingerprint and face verification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Attendance history: records, map, insights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333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7333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43156"/>
                </a:solidFill>
                <a:latin typeface="Montserrat"/>
              </a:rPr>
              <a:t>REACT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7333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67333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6.0k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7333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Live Firestore tables — no polling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Leaflet maps and location heat-map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Employee, location and role management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Out-of-radius check-out review queue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Excel timesheet export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4666" y="1400000"/>
            <a:ext cx="3357333" cy="4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4666" y="1680000"/>
            <a:ext cx="2757333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6D3A"/>
                </a:solidFill>
                <a:latin typeface="Montserrat"/>
              </a:rPr>
              <a:t>NESTJS BACKEND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4666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23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84666" y="2100000"/>
            <a:ext cx="1500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333333"/>
                </a:solidFill>
                <a:latin typeface="Montserrat"/>
              </a:rPr>
              <a:t>61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16161"/>
                </a:solidFill>
                <a:latin typeface="Montserrat"/>
              </a:rPr>
              <a:t>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4666" y="2960000"/>
            <a:ext cx="2757333" cy="21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only trusted writer to the database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Confirms every geofence report server-side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Firebase Auth guards and single-device sessions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Redis cache, SMTP invites, FCM push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Docker images and Kubernetes manifests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03  ·  Clients report, the API decides, the platform 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250000"/>
            <a:ext cx="4000000" cy="2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16161"/>
                </a:solidFill>
                <a:latin typeface="Montserrat"/>
              </a:rPr>
              <a:t>CLIENTS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1420000"/>
            <a:ext cx="5196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000" y="1640000"/>
            <a:ext cx="4676000" cy="8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Flutter mobile app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Native OS geofencing per approved location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Check-in / check-out  ·  offline event queue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Fingerprint and face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6000" y="1420000"/>
            <a:ext cx="5196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56000" y="1640000"/>
            <a:ext cx="4676000" cy="8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43156"/>
                </a:solidFill>
                <a:latin typeface="Montserrat"/>
              </a:rPr>
              <a:t>React admin dashboard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Locations, employees and roles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Live attendance tables and maps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Out-of-radius check-out review queue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18000" y="277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8814000" y="277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00" y="3030000"/>
            <a:ext cx="10792000" cy="14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0000" y="3220000"/>
            <a:ext cx="10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ontserrat"/>
              </a:rPr>
              <a:t>NESTJS API   ·   the only trusted writer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dirty="0">
                <a:solidFill>
                  <a:srgbClr val="FFFFFF"/>
                </a:solidFill>
                <a:latin typeface="Montserrat"/>
              </a:rPr>
              <a:t>1.  Guards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dirty="0">
                <a:solidFill>
                  <a:srgbClr val="C8D2DC"/>
                </a:solidFill>
                <a:latin typeface="Montserrat"/>
              </a:rPr>
              <a:t>identity from the Firebase ID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8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2.  Validation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coordinates checked, fields whitelisted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6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3.  Confirmation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distance re-measured against the radius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4000" y="3670000"/>
            <a:ext cx="2198000" cy="7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Montserrat"/>
              </a:rPr>
              <a:t>4.  Record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8D2DC"/>
                </a:solidFill>
                <a:latin typeface="Montserrat"/>
              </a:rPr>
              <a:t>verdict, distance and reason persisted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218000" y="448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Down Arrow 18"/>
          <p:cNvSpPr/>
          <p:nvPr/>
        </p:nvSpPr>
        <p:spPr>
          <a:xfrm>
            <a:off x="8814000" y="4480000"/>
            <a:ext cx="160000" cy="19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00000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000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Cloud Firestore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16 collections  ·  system of record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Written only through the Admin SDK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0666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70666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Firebase Auth  ·  FCM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Identity and ID-token verification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Push to supervisors and admins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1332" y="4740000"/>
            <a:ext cx="3370666" cy="1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81332" y="4960000"/>
            <a:ext cx="2850666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Redis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60-second cache for guards and locations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Fails safe — falls back to Firestore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586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0000" y="6015000"/>
            <a:ext cx="10192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6161"/>
                </a:solidFill>
                <a:latin typeface="Montserrat"/>
              </a:rPr>
              <a:t>DEPLOYMENT   ·   Docker images for backend and dashboard, running with Redis in a Kubernetes namespace  ·  probes, secrets and ConfigMaps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NATIVE GEOFENCING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04  ·  How presence is detected — continuously, without a tap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30000"/>
            <a:ext cx="10792000" cy="108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000" y="1580000"/>
            <a:ext cx="9992000" cy="6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Montserrat"/>
              </a:rPr>
              <a:t>The operating system watches the approved area. The employee does not have to do anything.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8D2DC"/>
                </a:solidFill>
                <a:latin typeface="Montserrat"/>
              </a:rPr>
              <a:t>A real geofence is registered with Android and iOS for each approved location, with ENTER, DWELL, EXIT and RETURN triggers. This is the mechanism the whole project rests on — attendance stops being a moment someone reports and becomes a period the device observes.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271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0000" y="299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000" y="301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Scheduled by the OS, not by us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geofence lives in the platform's own location service, so it costs almost no battery and keeps working when the app is closed, backgrounded or killed. Polling GPS on a timer would have drained the phone and still missed events.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6000" y="271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66000" y="299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6000" y="301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Five-minute dwell delay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answer to false positives. Someone walking past the building fires ENTER and then EXIT without ever dwelling, and is never counted as present. Presence means staying, not passing.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487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00000" y="515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0000" y="517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Background isolate and retry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Events are handled in a dedicated background entry point and re-driven by a scheduled worker, so nothing depends on the employee having the app open at the right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6000" y="4870000"/>
            <a:ext cx="5226000" cy="19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566000" y="5150000"/>
            <a:ext cx="520000" cy="5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6000" y="5170000"/>
            <a:ext cx="3906000" cy="1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33333"/>
                </a:solidFill>
                <a:latin typeface="Montserrat"/>
              </a:rPr>
              <a:t>Offline queue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An event captured in a basement or a dead zone is held in local storage and drained on reconnect. Nothing is lost — and nothing is invented to fill the 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SERVER-SIDE CONFIRMATION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A reported event is a claim until the backend has measured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1300000"/>
            <a:ext cx="10792000" cy="4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33333"/>
                </a:solidFill>
                <a:latin typeface="Montserrat"/>
              </a:rPr>
              <a:t>The OS detects. The server confirms. Neither step is enough on its 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0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626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GUARDS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Identity comes from the Firebase ID token, never from the request body. X-Session-Id enforces one account, one device — a superseded session is rejected.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399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3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 dirty="0">
                <a:solidFill>
                  <a:srgbClr val="333333"/>
                </a:solidFill>
                <a:latin typeface="Montserrat"/>
              </a:rPr>
              <a:t>PAYLOAD PIPE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Latitude and longitude must be finite, in range and not (0,0); accuracy non-negative. A field whitelist strips everything the caller was not entitled to send.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6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172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6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CONFIRMATION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coordinates that came with the event are re-measured against the approved radius — haversine distance, nearest location, accuracy ceiling. This is where the report is confirmed or contradicted.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9000" y="2280000"/>
            <a:ext cx="2473000" cy="26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945500" y="1970000"/>
            <a:ext cx="620000" cy="62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ontserrat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9000" y="2760000"/>
            <a:ext cx="1953000" cy="1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RECORD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measured distance, the radius it was judged against and a machine-readable reason are stored — with clientDisagreed raised when the device's report and the measurement do not match.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0000" y="5350000"/>
            <a:ext cx="10792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Check-in, check-out, background pings and native geofence events all run through the same service — so no two parts of the system can disagree about what counts as being on site.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CONFIRMING THE 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The distance check, and how GPS accuracy is handled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4964320" cy="15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700000"/>
            <a:ext cx="428432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dirty="0">
                <a:solidFill>
                  <a:srgbClr val="FFFFFF"/>
                </a:solidFill>
                <a:latin typeface="Montserrat"/>
              </a:rPr>
              <a:t>inside  =  distance  ≤  radius + buffer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dirty="0">
                <a:solidFill>
                  <a:srgbClr val="C8D2DC"/>
                </a:solidFill>
                <a:latin typeface="Montserrat"/>
              </a:rPr>
              <a:t>buffer = min( reported accuracy, 25 m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4320" y="14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Haversine, not a flat approximation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Great-circle distance on the WGS-84 mean radius. The simpler equirectangular formula's error grows with latitude, and at ~25°N that is already a few percent — enough to matter against a 50 m radius.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320" y="235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Accuracy ceiling: 50 metres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 clear-sky fix is 3–10 m; indoors it degrades to 20–40 m. Beyond 50 m it is a wifi or cell-tower estimate. That is not evidence of absence — it is recorded as inconclusive.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4320" y="33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333333"/>
                </a:solidFill>
                <a:latin typeface="Montserrat"/>
              </a:rPr>
              <a:t>Boundary buffer, capped at 25 m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A fix is a probability cloud, not a point. Someone on the perimeter with a ±30 m fix is genuinely ambiguous. The cap stops a conveniently poor fix from inflating the geofence.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4320" y="425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333333"/>
                </a:solidFill>
                <a:latin typeface="Montserrat"/>
              </a:rPr>
              <a:t>Nearest approved location wins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An employee assigned Office + Site + Customer no longer has every record attributed to whichever sorted first.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4320" y="5200000"/>
            <a:ext cx="540768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dirty="0">
                <a:solidFill>
                  <a:srgbClr val="333333"/>
                </a:solidFill>
                <a:latin typeface="Montserrat"/>
              </a:rPr>
              <a:t>A geofence event is confirmed, not assumed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The OS says the employee entered; the coordinates that came with the event say where. A device reporting ENTER from </a:t>
            </a:r>
            <a:r>
              <a:rPr sz="1050" b="0" dirty="0" err="1">
                <a:solidFill>
                  <a:srgbClr val="616161"/>
                </a:solidFill>
                <a:latin typeface="Montserrat"/>
              </a:rPr>
              <a:t>kilometres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away raises </a:t>
            </a:r>
            <a:r>
              <a:rPr sz="1050" b="0" dirty="0" err="1">
                <a:solidFill>
                  <a:srgbClr val="616161"/>
                </a:solidFill>
                <a:latin typeface="Montserrat"/>
              </a:rPr>
              <a:t>clientDisagreed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— the most useful fraud signal the system produces.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3100000"/>
            <a:ext cx="4964320" cy="3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>
                <a:solidFill>
                  <a:srgbClr val="CE1B28"/>
                </a:solidFill>
                <a:latin typeface="Montserrat"/>
              </a:rPr>
              <a:t>REJECTION IS EXPLAINED, NOT JUST REFUSED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invalid_coordinates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poor_accuracy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no_approved_locations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outside_radius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333333"/>
                </a:solidFill>
                <a:latin typeface="Montserrat"/>
              </a:rPr>
              <a:t>inside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Every verdict carries a machine-readable reason and a message safe to show the employee — so the app can explain what to do next instead of just failing.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5230000"/>
            <a:ext cx="4964320" cy="113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0000" y="5400000"/>
            <a:ext cx="4284320" cy="83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43156"/>
                </a:solidFill>
                <a:latin typeface="Montserrat"/>
              </a:rPr>
              <a:t>WORKED EXAMPLE  ·  100 m radius, ±12 m fix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96 m from centre → inside, buffer 12 m. 118 m → outside, and the record stores 118 — not the zero the old code wrote.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LEAVING THE WORK AREA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05  ·  The exit path, and why check-out is never blocked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10792000" cy="1450000"/>
          </a:xfrm>
          <a:prstGeom prst="roundRect">
            <a:avLst>
              <a:gd name="adj" fmla="val 4500"/>
            </a:avLst>
          </a:prstGeom>
          <a:solidFill>
            <a:srgbClr val="F7E9EA"/>
          </a:solidFill>
          <a:ln w="9525">
            <a:solidFill>
              <a:srgbClr val="E8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0000" y="1700000"/>
            <a:ext cx="9992000" cy="9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CE1B28"/>
                </a:solidFill>
                <a:latin typeface="Montserrat"/>
              </a:rPr>
              <a:t>Check-out is deliberately never geofence-blocked.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Montserrat"/>
              </a:rPr>
              <a:t>Someone ending a shift must not be trapped permanently checked in because their GPS drifted. An out-of-radius check-out succeeds, is flagged with its real distance, and opens an admin review instead of a support ticket. Without that note in the documentation the behaviour reads as a missing check — it is the opposite: a deliberate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0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EXIT recorded and escalated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OS reports the exit; the event is stored with coordinates and timestamp, and a push notification goes to the supervisor and the admins.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3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53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Reason captured from the employee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app asks why, and the answer is routed to HR — so an exit is a conversation, not an accusation.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6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26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Sessions cross-referenced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flaggedOutside checks every ping against that session's check-in to check-out window, so a shift spent off site surfaces on its 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9000" y="3350000"/>
            <a:ext cx="2473000" cy="21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9000" y="3650000"/>
            <a:ext cx="1913000" cy="17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Live anomaly panel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Admins see disagreements, out-of-radius check-outs and exits as they happen, each one clickable back to the record.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 dirty="0">
                <a:solidFill>
                  <a:srgbClr val="000000"/>
                </a:solidFill>
                <a:latin typeface="Montserrat"/>
              </a:rPr>
              <a:t>THREE WAYS TO PROVE PRESENCE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 dirty="0">
                <a:solidFill>
                  <a:srgbClr val="CE1B28"/>
                </a:solidFill>
                <a:latin typeface="Montserrat"/>
              </a:rPr>
              <a:t>06  ·  Location, identity and authority — layered, not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GEOFENCE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0000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0000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CE1B28"/>
                </a:solidFill>
                <a:latin typeface="Montserrat"/>
              </a:rPr>
              <a:t>PROVES 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000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device reports coordinates; the server measures the distance to the approved radius and compares it.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Applied on every standard check-in, so each record carries a real measured distance whether or not another factor is required.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What it cannot do: tell you who is holding the phone.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7333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7333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43156"/>
                </a:solidFill>
                <a:latin typeface="Montserrat"/>
              </a:rPr>
              <a:t>BIOMETRICS  ·  fingerprint or 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7333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7333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43156"/>
                </a:solidFill>
                <a:latin typeface="Montserrat"/>
              </a:rPr>
              <a:t>PROVES  WHO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7333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Layered on top of the geofence, never instead of it — the location check still has to pass.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Fingerprint: platform prompt, server-minted single-use nonce, 60-second expiry, bound to the enrolled device.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Face: ML Kit detection with a liveness step, a 128-dimension embedding matched at 0.75, template held in encrypted storage on the device and never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4666" y="1400000"/>
            <a:ext cx="3357333" cy="4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4666" y="1680000"/>
            <a:ext cx="2757333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36D3A"/>
                </a:solidFill>
                <a:latin typeface="Montserrat"/>
              </a:rPr>
              <a:t>SUPERVISOR QR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4666" y="2100000"/>
            <a:ext cx="2100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4666" y="2210000"/>
            <a:ext cx="21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36D3A"/>
                </a:solidFill>
                <a:latin typeface="Montserrat"/>
              </a:rPr>
              <a:t>PROVES  ON WHOSE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4666" y="2650000"/>
            <a:ext cx="2757333" cy="2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exception path, for site employees legitimately away from any approved radius.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employee raises a request, the assigned supervisor approves it, and a single-use code is issued with a 60-second expiry — bound to the request, the employee, the supervisor and the worksite.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1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coordinates are still recorded; they simply are not the gate. A named person vouched for this check-in instead.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0000" y="5750000"/>
            <a:ext cx="10792000" cy="90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00000" y="6000000"/>
            <a:ext cx="9992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dirty="0">
                <a:solidFill>
                  <a:srgbClr val="FFFFFF"/>
                </a:solidFill>
                <a:latin typeface="Montserrat"/>
              </a:rPr>
              <a:t>Three different questions — where, who, and on whose authority. The admin chooses which of them a given employee has to answer.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THE ADMIN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07  ·  Locations, radii and verification method are configuration, not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80000"/>
            <a:ext cx="5196000" cy="35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700000"/>
            <a:ext cx="4516000" cy="291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LOCATIONS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Approved work locations are created, edited and deleted from the dashboard — no deployment involved.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Each carries a name, latitude, longitude and radiusMeters. That radius is the exact figure every distance check is measured against.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An interactive Leaflet map draws the approved area, so a radius can be sanity-checked against the actual site before it is saved.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Employees are assigned one or more locations. Being inside any of them counts, and the nearest one is the one attributed.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6000" y="1380000"/>
            <a:ext cx="5196000" cy="35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86000" y="1620000"/>
            <a:ext cx="4516000" cy="3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CE1B28"/>
                </a:solidFill>
                <a:latin typeface="Montserrat"/>
              </a:rPr>
              <a:t>VERIFICATION METHOD  ·  per employee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36000" y="218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6000" y="228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Geofence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44000" y="218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64000" y="228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only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36000" y="266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56000" y="276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+ Geofence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44000" y="266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64000" y="276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36000" y="314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56000" y="324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+ Geofence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44000" y="314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64000" y="324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Supervisor QR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36000" y="362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56000" y="372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Fingerprint + Supervisor QR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4000" y="3620000"/>
            <a:ext cx="2208000" cy="4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64000" y="3725000"/>
            <a:ext cx="1968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33333"/>
                </a:solidFill>
                <a:latin typeface="Montserrat"/>
              </a:rPr>
              <a:t>Face recognition + Supervisor QR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36000" y="4210000"/>
            <a:ext cx="4516000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Eight combinations, set from a dropdown on the Employees page. A site crew can require face plus supervisor approval while an office team stays on the geofence alone — same build, same deployment.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0000" y="5230000"/>
            <a:ext cx="10792000" cy="1000000"/>
          </a:xfrm>
          <a:prstGeom prst="roundRect">
            <a:avLst>
              <a:gd name="adj" fmla="val 4500"/>
            </a:avLst>
          </a:prstGeom>
          <a:solidFill>
            <a:srgbClr val="F7E9EA"/>
          </a:solidFill>
          <a:ln w="9525">
            <a:solidFill>
              <a:srgbClr val="E8C5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0000" y="5460000"/>
            <a:ext cx="9992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CE1B28"/>
                </a:solidFill>
                <a:latin typeface="Montserrat"/>
              </a:rPr>
              <a:t>Policy lives in the dashboard, not in the codebase.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Montserrat"/>
              </a:rPr>
              <a:t>The same applies to the GPS accuracy ceiling and the boundary buffer, which are environment variables — a site surrounded by tall structures is tuned, not rebuilt.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The four collections that carry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60000"/>
            <a:ext cx="5196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000" y="1580000"/>
            <a:ext cx="4676000" cy="1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employees_ids   ·   WHO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name · email · role · authUid · deviceId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assignedLocationIds  →  locations_ids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attendanceMethod  —  8 combinations of geofence, biometrics and supervisor QR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6000" y="1360000"/>
            <a:ext cx="5196000" cy="16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6000" y="1580000"/>
            <a:ext cx="4676000" cy="11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CE1B28"/>
                </a:solidFill>
                <a:latin typeface="Montserrat"/>
              </a:rPr>
              <a:t>locations_ids   ·   WHERE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name · latitude · longitude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radiusMeters  —  the figure every check is measured against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type:  site | 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96000" y="2060000"/>
            <a:ext cx="1000000" cy="3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16161"/>
                </a:solidFill>
                <a:latin typeface="Montserrat"/>
              </a:rPr>
              <a:t>N : 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218000" y="3020000"/>
            <a:ext cx="160000" cy="20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own Arrow 10"/>
          <p:cNvSpPr/>
          <p:nvPr/>
        </p:nvSpPr>
        <p:spPr>
          <a:xfrm>
            <a:off x="8814000" y="3020000"/>
            <a:ext cx="160000" cy="200000"/>
          </a:xfrm>
          <a:prstGeom prst="downArrow">
            <a:avLst/>
          </a:prstGeom>
          <a:solidFill>
            <a:srgbClr val="B8C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00000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000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attendance_ids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The record. checkInUtc · checkOutUtc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check-in and check-out coordinates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gpsAccuracy · deviceId · tzOffsetMinutes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verification: distanceMeters, radiusMeters,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reason, clientDisagreed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checkoutFlagged ·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666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70666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geofence_Events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What the operating system reported.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eventType: ENTER | DWELL | EXIT | RETURN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latitude · longitude · timestamp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serverCheck: the backend's own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measurement of those coordinates,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and whether it agreed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332" y="3320000"/>
            <a:ext cx="3370666" cy="20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1332" y="3540000"/>
            <a:ext cx="2850666" cy="1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333333"/>
                </a:solidFill>
                <a:latin typeface="Montserrat"/>
              </a:rPr>
              <a:t>location_Pings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Periodic samples through the shift.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lat · lng · gpsAccuracy · timestamp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insideGeofence — server-computed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distanceMeters · locationName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inconclusive — a fix too poor to judge,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which is not the same as absent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0000" y="5620000"/>
            <a:ext cx="10792000" cy="900000"/>
          </a:xfrm>
          <a:prstGeom prst="roundRect">
            <a:avLst>
              <a:gd name="adj" fmla="val 4500"/>
            </a:avLst>
          </a:prstGeom>
          <a:solidFill>
            <a:srgbClr val="F2F4F6"/>
          </a:solidFill>
          <a:ln w="9525">
            <a:solidFill>
              <a:srgbClr val="DD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40000" y="5820000"/>
            <a:ext cx="101120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050" b="1">
                <a:solidFill>
                  <a:srgbClr val="043156"/>
                </a:solidFill>
                <a:latin typeface="Montserrat"/>
              </a:rPr>
              <a:t>PLUS 12 SUPPORTING COLLECTIONS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6161"/>
                </a:solidFill>
                <a:latin typeface="Montserrat"/>
              </a:rPr>
              <a:t>employee_Sessions · admin_Sessions · admin_Users · company_Codes · code_Requests · device_Tokens · offsite_requests · role_audit_logs · attendance_meta  —  sessions, invites, push tokens, approvals and audit. The full ERD documents all 16 with every foreign key annotated.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TRUST BOUNDARY AND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One writer, verified identity, whitelisted fields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000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One writer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backend Admin SDK is the only thing that writes to Firestore. firestore.rules enforces read-only client access at the database itself, so the rule survives a bug in the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0666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10666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Live reads, guarded writes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Both clients read Firestore directly, which is why the dashboard tables and maps update live with no polling. Every mutation still goes through the API — otherwise the geofence confirmation, the guards and the field whitelist could simply be bypassed.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1332" y="140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21332" y="170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Identity from the token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 err="1">
                <a:solidFill>
                  <a:srgbClr val="616161"/>
                </a:solidFill>
                <a:latin typeface="Montserrat"/>
              </a:rPr>
              <a:t>EmployeeGuard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and </a:t>
            </a:r>
            <a:r>
              <a:rPr sz="1050" b="0" dirty="0" err="1">
                <a:solidFill>
                  <a:srgbClr val="616161"/>
                </a:solidFill>
                <a:latin typeface="Montserrat"/>
              </a:rPr>
              <a:t>AdminGuard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verify the Firebase ID token on every request and take the identity from it. A caller cannot become someone else by editing a body 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000" y="4030000"/>
            <a:ext cx="2770666" cy="12781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One account, one device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The backend mints a session id at login; the client sends it on every request and a superseded id is rejected. A second login </a:t>
            </a:r>
            <a:r>
              <a:rPr lang="en-US" sz="1050" b="0" dirty="0">
                <a:solidFill>
                  <a:srgbClr val="616161"/>
                </a:solidFill>
                <a:latin typeface="Montserrat"/>
              </a:rPr>
              <a:t>from another device would need admin approval.</a:t>
            </a:r>
            <a:endParaRPr sz="1050" b="0" dirty="0">
              <a:solidFill>
                <a:srgbClr val="616161"/>
              </a:solidFill>
              <a:latin typeface="Montserra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10666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10666" y="4030000"/>
            <a:ext cx="2770666" cy="1425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50" b="1" dirty="0">
                <a:solidFill>
                  <a:srgbClr val="333333"/>
                </a:solidFill>
                <a:latin typeface="Montserrat"/>
              </a:rPr>
              <a:t>Role-based access control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050" dirty="0">
                <a:solidFill>
                  <a:srgbClr val="333333"/>
                </a:solidFill>
                <a:latin typeface="Montserrat"/>
              </a:rPr>
              <a:t>Employees, supervisors and admins have different permissions. Employees can only access their own attendance information, while supervisors and admins can manage or review records based on their assigned roles.</a:t>
            </a:r>
            <a:endParaRPr sz="1050" dirty="0">
              <a:solidFill>
                <a:srgbClr val="333333"/>
              </a:solidFill>
              <a:latin typeface="Montserra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21332" y="3730000"/>
            <a:ext cx="3370666" cy="205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21332" y="4030000"/>
            <a:ext cx="2770666" cy="14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Cache that fails safe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616161"/>
                </a:solidFill>
                <a:latin typeface="Montserrat"/>
              </a:rPr>
              <a:t>Redis caches guard lookups and locations on a 60-second TTL. If Redis is down the app reports it and keeps serving from </a:t>
            </a:r>
            <a:r>
              <a:rPr sz="1050" b="0" dirty="0" err="1">
                <a:solidFill>
                  <a:srgbClr val="616161"/>
                </a:solidFill>
                <a:latin typeface="Montserrat"/>
              </a:rPr>
              <a:t>Firestore</a:t>
            </a:r>
            <a:r>
              <a:rPr sz="1050" b="0" dirty="0">
                <a:solidFill>
                  <a:srgbClr val="616161"/>
                </a:solidFill>
                <a:latin typeface="Montserrat"/>
              </a:rPr>
              <a:t> rather than failing closed on attendance.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API DOCUMENTATION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08  ·  Generated from the code, decisions written by hand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0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61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83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63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13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tags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6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46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16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9000" y="1400000"/>
            <a:ext cx="2443000" cy="122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9000" y="1630000"/>
            <a:ext cx="1883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CE1B28"/>
                </a:solidFill>
                <a:latin typeface="Montserrat"/>
              </a:rPr>
              <a:t>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undocumented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0000" y="290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 err="1">
                <a:solidFill>
                  <a:srgbClr val="333333"/>
                </a:solidFill>
                <a:latin typeface="Montserrat"/>
              </a:rPr>
              <a:t>OpenAPI</a:t>
            </a:r>
            <a:r>
              <a:rPr sz="1250" b="1" dirty="0">
                <a:solidFill>
                  <a:srgbClr val="333333"/>
                </a:solidFill>
                <a:latin typeface="Montserrat"/>
              </a:rPr>
              <a:t> 3.0, generated by @nestjs/swagger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16161"/>
                </a:solidFill>
                <a:latin typeface="Montserrat"/>
              </a:rPr>
              <a:t>The decorators sit on the same methods that handle the requests, so a route cannot change without its documentation changing with it. Browsable and executable at /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api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/docs; the raw spec at /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api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/docs-json, so another team can generate a typed client rather than hand-writing request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000" y="290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Chosen over a hand-written document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>
                <a:solidFill>
                  <a:srgbClr val="616161"/>
                </a:solidFill>
                <a:latin typeface="Montserrat"/>
              </a:rPr>
              <a:t>A document maintained by hand goes stale on the first refactor — and then it is worse than nothing, because people trust it and it is wrong. This one cannot drift.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000" y="442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Both auth schemes declared per route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The firebase bearer token and the X-Session-Id header, so a reader knows what a given endpoint actually requires.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000" y="4420000"/>
            <a:ext cx="5206000" cy="1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333333"/>
                </a:solidFill>
                <a:latin typeface="Montserrat"/>
              </a:rPr>
              <a:t>The route list is free — the descriptions are the work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dirty="0" err="1">
                <a:solidFill>
                  <a:srgbClr val="616161"/>
                </a:solidFill>
                <a:latin typeface="Montserrat"/>
              </a:rPr>
              <a:t>isInsideGeofence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 is documented as not the decision, because the field name invites exactly the wrong assumption. A refused check-in is 201 with </a:t>
            </a:r>
            <a:r>
              <a:rPr sz="1100" b="0" dirty="0" err="1">
                <a:solidFill>
                  <a:srgbClr val="616161"/>
                </a:solidFill>
                <a:latin typeface="Montserrat"/>
              </a:rPr>
              <a:t>accepted:false</a:t>
            </a:r>
            <a:r>
              <a:rPr sz="1100" b="0" dirty="0">
                <a:solidFill>
                  <a:srgbClr val="616161"/>
                </a:solidFill>
                <a:latin typeface="Montserrat"/>
              </a:rPr>
              <a:t>, not a 4xx: the request was well formed, the location was not — so clients must branch on the field, not the status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DELIVERED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Seven deliverables, all produced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40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0000" y="149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0000" y="155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Mobile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00000" y="155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Flutter · 62 files · native OS geofencing, offline queue, biometrics, supervisor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206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60000" y="215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0000" y="221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Web admin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000" y="221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React 19 + Vite · 8 pages · locations and radii, verification method per employee, review queue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0000" y="273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60000" y="282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0000" y="288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Backend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000" y="288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NestJS · 23 modules · 61 endpoints · Redis, Docker, Kubernetes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0000" y="339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000" y="348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0000" y="354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API documentation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0000" y="354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OpenAPI 3.0 at /api/docs · 61 operations, 13 tags, 16 schemas, none undocumented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000" y="4060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60000" y="4150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0000" y="4210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Architecture diagram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0000" y="4210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Four layers, the confirmation path called out, the trust boundary stated explicitly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0000" y="4725000"/>
            <a:ext cx="10792000" cy="56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60000" y="4815000"/>
            <a:ext cx="380000" cy="380000"/>
          </a:xfrm>
          <a:prstGeom prst="ellipse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0000" y="4875000"/>
            <a:ext cx="3000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33333"/>
                </a:solidFill>
                <a:latin typeface="Montserrat"/>
              </a:rPr>
              <a:t>Database 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0000" y="4875000"/>
            <a:ext cx="6592000" cy="2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6161"/>
                </a:solidFill>
                <a:latin typeface="Montserrat"/>
              </a:rPr>
              <a:t>ERD of all 16 collections as the code writes them, every foreign key annotated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0000" y="6095000"/>
            <a:ext cx="10792000" cy="4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E1B28"/>
                </a:solidFill>
                <a:latin typeface="Montserrat"/>
              </a:rPr>
              <a:t>The OS detects. The server confirms. The record is evidence.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000" b="1">
                <a:solidFill>
                  <a:srgbClr val="000000"/>
                </a:solidFill>
                <a:latin typeface="Montserrat"/>
              </a:rPr>
              <a:t>WORK IN PROGRESS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30714" y="432000"/>
            <a:ext cx="72824" cy="180000"/>
          </a:xfrm>
          <a:prstGeom prst="rect">
            <a:avLst/>
          </a:prstGeom>
          <a:solidFill>
            <a:srgbClr val="CE1B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6000" y="754234"/>
            <a:ext cx="9000000" cy="3081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050">
                <a:solidFill>
                  <a:srgbClr val="CE1B28"/>
                </a:solidFill>
                <a:latin typeface="Montserrat"/>
              </a:rPr>
              <a:t>What comes next, and why these two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0000" y="1360000"/>
            <a:ext cx="5206000" cy="3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0000" y="1660000"/>
            <a:ext cx="452600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ADMIN CHATBOT IN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000" y="2140000"/>
            <a:ext cx="4526000" cy="2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Ask the data directly.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“Who was late at Dubai Office this week?” — instead of filtering three tables by hand.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Explain a record.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Why a check-in was rejected, and what the measured distance was judged against.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Guide the admin.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Setting up a location and its radius, or changing an employee's verification method.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Draft the writing.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Daily digests, anomaly roundups and timesheet summaries an admin would otherwise 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000" y="1360000"/>
            <a:ext cx="5206000" cy="38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AEA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6000" y="1660000"/>
            <a:ext cx="4526000" cy="3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E1B28"/>
                </a:solidFill>
                <a:latin typeface="Montserrat"/>
              </a:rPr>
              <a:t>HIKVISION FACE TERMINALS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6000" y="2140000"/>
            <a:ext cx="4526000" cy="27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A fixed check-in point at the door.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face terminals on site become an additional attendance source, recorded alongside geofence check-ins.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Over ISAPI, the vendor's HTTP interface.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The terminal reports the event; the backend resolves the employee and writes it through the same path.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Evidence a phone cannot produce.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 wall-mounted terminal cannot be carried elsewhere, spoofed, or left on a colleague's desk.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Montserrat"/>
              </a:rPr>
              <a:t>It slots in, it does not replace.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</a:pPr>
            <a:r>
              <a:rPr sz="1050" b="0">
                <a:solidFill>
                  <a:srgbClr val="616161"/>
                </a:solidFill>
                <a:latin typeface="Montserrat"/>
              </a:rPr>
              <a:t>A fourth way to answer “who and where”, beside geofence, biometrics and supervisor QR.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000" y="5480000"/>
            <a:ext cx="10792000" cy="950000"/>
          </a:xfrm>
          <a:prstGeom prst="roundRect">
            <a:avLst>
              <a:gd name="adj" fmla="val 45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0000" y="5720000"/>
            <a:ext cx="999200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1" dirty="0">
                <a:solidFill>
                  <a:srgbClr val="FFFFFF"/>
                </a:solidFill>
                <a:latin typeface="Montserrat"/>
              </a:rPr>
              <a:t>Both are researched, neither is built.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dirty="0">
                <a:solidFill>
                  <a:srgbClr val="C8D2DC"/>
                </a:solidFill>
                <a:latin typeface="Montserrat"/>
              </a:rPr>
              <a:t>Each fits the existing model rather than bending it — the data is already structured and every verdict already carries a machine-readable reason, and a terminal event is the same shape as a check-in. The next step for each is a proof of concept.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479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28657</TotalTime>
  <Words>3069</Words>
  <Application>Microsoft Office PowerPoint</Application>
  <PresentationFormat>Widescreen</PresentationFormat>
  <Paragraphs>315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Montserrat</vt:lpstr>
      <vt:lpstr>Montserrat SemiBold</vt:lpstr>
      <vt:lpstr>Calibri</vt:lpstr>
      <vt:lpstr>Arial</vt:lpstr>
      <vt:lpstr>Montserrat Medium</vt:lpstr>
      <vt:lpstr>Montserrat ExtraBold</vt:lpstr>
      <vt:lpstr>Helvetica</vt:lpstr>
      <vt:lpstr>Office Theme</vt:lpstr>
      <vt:lpstr>PowerPoint Presentation</vt:lpstr>
      <vt:lpstr>AGENDA</vt:lpstr>
      <vt:lpstr>THE PROBLEM</vt:lpstr>
      <vt:lpstr>WHAT WAS BUILT</vt:lpstr>
      <vt:lpstr>SYSTEM ARCHITECTURE</vt:lpstr>
      <vt:lpstr>NATIVE GEOFENCING</vt:lpstr>
      <vt:lpstr>SERVER-SIDE CONFIRMATION</vt:lpstr>
      <vt:lpstr>CONFIRMING THE LOCATION</vt:lpstr>
      <vt:lpstr>LEAVING THE WORK AREA</vt:lpstr>
      <vt:lpstr>THREE WAYS TO PROVE PRESENCE</vt:lpstr>
      <vt:lpstr>THE ADMIN DECIDES</vt:lpstr>
      <vt:lpstr>DATA MODEL</vt:lpstr>
      <vt:lpstr>TRUST BOUNDARY AND SECURITY</vt:lpstr>
      <vt:lpstr>API DOCUMENTATION</vt:lpstr>
      <vt:lpstr>DELIVERED</vt:lpstr>
      <vt:lpstr>WORK IN PROGRESS</vt:lpstr>
      <vt:lpstr>PowerPoint Presentation</vt:lpstr>
    </vt:vector>
  </TitlesOfParts>
  <Manager/>
  <Company>Elsewedy Electric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Corporate Presentation 2023</dc:title>
  <dc:subject/>
  <dc:creator>Marcom</dc:creator>
  <cp:keywords/>
  <dc:description/>
  <cp:lastModifiedBy>Ahmed</cp:lastModifiedBy>
  <cp:revision>2491</cp:revision>
  <cp:lastPrinted>2022-10-09T12:22:43Z</cp:lastPrinted>
  <dcterms:created xsi:type="dcterms:W3CDTF">2020-05-31T20:56:38Z</dcterms:created>
  <dcterms:modified xsi:type="dcterms:W3CDTF">2026-08-05T05:36:34Z</dcterms:modified>
  <cp:category/>
</cp:coreProperties>
</file>